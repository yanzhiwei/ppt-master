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666750" y="1047750"/>
            <a:ext cx="10858500" cy="47625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DBEAFE"/>
            </a:solidFill>
          </a:ln>
        </p:spPr>
      </p:sp>
      <p:sp>
        <p:nvSpPr>
          <p:cNvPr id="6" name="Ellipse 6"/>
          <p:cNvSpPr/>
          <p:nvPr/>
        </p:nvSpPr>
        <p:spPr>
          <a:xfrm>
            <a:off x="9525000" y="666750"/>
            <a:ext cx="2095500" cy="2095500"/>
          </a:xfrm>
          <a:prstGeom prst="ellipse">
            <a:avLst/>
          </a:prstGeom>
          <a:solidFill>
            <a:srgbClr val="DBEAFE">
              <a:alpha val="70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8001000" y="4000500"/>
            <a:ext cx="2667000" cy="2667000"/>
          </a:xfrm>
          <a:prstGeom prst="ellipse">
            <a:avLst/>
          </a:prstGeom>
          <a:solidFill>
            <a:srgbClr val="BFDBFE">
              <a:alpha val="55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183005" y="1911668"/>
            <a:ext cx="10016678" cy="883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35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AI提效：从机会识别到规模化落地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1580" y="3202305"/>
            <a:ext cx="1026661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聚焦投入产出评估、试点策略与组织能力建设 面向管理层的业务提效与落地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1580" y="3564255"/>
            <a:ext cx="12801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实施框架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200" y="5934075"/>
            <a:ext cx="345567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2E8F0"/>
                </a:solidFill>
                <a:latin typeface="Arial"/>
                <a:ea typeface="Microsoft YaHei"/>
                <a:cs typeface="Arial"/>
              </a:rPr>
              <a:t>Replica PPT Agent · AI Generated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15340" y="234315"/>
            <a:ext cx="1095946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5" name="Rectangle 5"/>
          <p:cNvSpPr/>
          <p:nvPr/>
        </p:nvSpPr>
        <p:spPr>
          <a:xfrm>
            <a:off x="1333500" y="1809750"/>
            <a:ext cx="95250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Ellipse 6"/>
          <p:cNvSpPr/>
          <p:nvPr/>
        </p:nvSpPr>
        <p:spPr>
          <a:xfrm>
            <a:off x="1543050" y="1914525"/>
            <a:ext cx="342900" cy="3429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630680" y="2006918"/>
            <a:ext cx="963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68830" y="1945005"/>
            <a:ext cx="399449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AI提效的业务价值与应用场景</a:t>
            </a:r>
          </a:p>
        </p:txBody>
      </p:sp>
      <p:sp>
        <p:nvSpPr>
          <p:cNvPr id="9" name="Rectangle 9"/>
          <p:cNvSpPr/>
          <p:nvPr/>
        </p:nvSpPr>
        <p:spPr>
          <a:xfrm>
            <a:off x="1333500" y="2552700"/>
            <a:ext cx="95250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0" name="Ellipse 10"/>
          <p:cNvSpPr/>
          <p:nvPr/>
        </p:nvSpPr>
        <p:spPr>
          <a:xfrm>
            <a:off x="1543050" y="2657475"/>
            <a:ext cx="342900" cy="3429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630680" y="274986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68830" y="2687955"/>
            <a:ext cx="404050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投入产出评估方法与决策模型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333500" y="3295650"/>
            <a:ext cx="95250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4" name="Ellipse 14"/>
          <p:cNvSpPr/>
          <p:nvPr/>
        </p:nvSpPr>
        <p:spPr>
          <a:xfrm>
            <a:off x="1543050" y="3400425"/>
            <a:ext cx="342900" cy="3429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630680" y="349281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68830" y="3430905"/>
            <a:ext cx="404050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试点策略设计与阶段推进路径</a:t>
            </a:r>
          </a:p>
        </p:txBody>
      </p:sp>
      <p:sp>
        <p:nvSpPr>
          <p:cNvPr id="17" name="Rectangle 17"/>
          <p:cNvSpPr/>
          <p:nvPr/>
        </p:nvSpPr>
        <p:spPr>
          <a:xfrm>
            <a:off x="1333500" y="4038600"/>
            <a:ext cx="95250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8" name="Ellipse 18"/>
          <p:cNvSpPr/>
          <p:nvPr/>
        </p:nvSpPr>
        <p:spPr>
          <a:xfrm>
            <a:off x="1543050" y="4143375"/>
            <a:ext cx="342900" cy="3429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630680" y="423576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68830" y="4173855"/>
            <a:ext cx="342709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组织能力建设与治理保障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333500" y="4781550"/>
            <a:ext cx="952500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2" name="Ellipse 22"/>
          <p:cNvSpPr/>
          <p:nvPr/>
        </p:nvSpPr>
        <p:spPr>
          <a:xfrm>
            <a:off x="1543050" y="4886325"/>
            <a:ext cx="342900" cy="3429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630680" y="4978718"/>
            <a:ext cx="148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68830" y="4916805"/>
            <a:ext cx="312039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实施建议与下一步行动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6280" y="468630"/>
            <a:ext cx="9393803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AI提效的核心价值：降本、增效、提质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239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762000" y="171450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762000" y="171450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024890" y="2015490"/>
            <a:ext cx="50406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降本：减少重复性人工投入，优化流程与资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4890" y="2339340"/>
            <a:ext cx="8343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源配置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314325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762000" y="314325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24890" y="3444240"/>
            <a:ext cx="50406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提质：提升内容准确性、服务一致性与决策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4890" y="376809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支持能力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667500" y="171450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6667500" y="171450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930390" y="2015490"/>
            <a:ext cx="50406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增效：缩短响应周期，提高交付速度与协同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30390" y="2339340"/>
            <a:ext cx="5715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效率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667500" y="314325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667500" y="3143250"/>
            <a:ext cx="95250" cy="11430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930390" y="3444240"/>
            <a:ext cx="50406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优先聚焦高频、标准化、数据基础较好的业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30390" y="3768090"/>
            <a:ext cx="8343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务环节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E3A8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813435" y="351472"/>
            <a:ext cx="9081754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投入产出评估框架：从成本项到价值项</a:t>
            </a:r>
          </a:p>
        </p:txBody>
      </p:sp>
      <p:sp>
        <p:nvSpPr>
          <p:cNvPr id="5" name="Rectangle 5"/>
          <p:cNvSpPr/>
          <p:nvPr/>
        </p:nvSpPr>
        <p:spPr>
          <a:xfrm>
            <a:off x="666750" y="1428750"/>
            <a:ext cx="10858500" cy="4953000"/>
          </a:xfrm>
          <a:prstGeom prst="roundRect">
            <a:avLst>
              <a:gd name="adj" fmla="val 3462"/>
            </a:avLst>
          </a:prstGeom>
          <a:solidFill>
            <a:srgbClr val="F8FAFC"/>
          </a:solidFill>
          <a:ln w="9525">
            <a:solidFill>
              <a:srgbClr val="DBEAFE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929640" y="1977390"/>
            <a:ext cx="65036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指标1</a:t>
            </a:r>
          </a:p>
        </p:txBody>
      </p:sp>
      <p:sp>
        <p:nvSpPr>
          <p:cNvPr id="7" name="Rectangle 7"/>
          <p:cNvSpPr/>
          <p:nvPr/>
        </p:nvSpPr>
        <p:spPr>
          <a:xfrm>
            <a:off x="2667000" y="1905000"/>
            <a:ext cx="5143500" cy="323850"/>
          </a:xfrm>
          <a:prstGeom prst="roundRect">
            <a:avLst>
              <a:gd name="adj" fmla="val 23529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2667000" y="1905000"/>
            <a:ext cx="495300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981950" y="1971675"/>
            <a:ext cx="39485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投入侧：模型调用、系统集成、数据治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81950" y="2219325"/>
            <a:ext cx="210835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理、培训与运维成本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9640" y="2834640"/>
            <a:ext cx="71608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指标2</a:t>
            </a:r>
          </a:p>
        </p:txBody>
      </p:sp>
      <p:sp>
        <p:nvSpPr>
          <p:cNvPr id="12" name="Rectangle 12"/>
          <p:cNvSpPr/>
          <p:nvPr/>
        </p:nvSpPr>
        <p:spPr>
          <a:xfrm>
            <a:off x="2667000" y="2762250"/>
            <a:ext cx="5143500" cy="323850"/>
          </a:xfrm>
          <a:prstGeom prst="roundRect">
            <a:avLst>
              <a:gd name="adj" fmla="val 23529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2667000" y="2762250"/>
            <a:ext cx="495300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981950" y="2828925"/>
            <a:ext cx="39485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产出侧：人效提升、工时节省、错误率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81950" y="3076575"/>
            <a:ext cx="210835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下降、收入转化改善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9640" y="3691890"/>
            <a:ext cx="71608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指标3</a:t>
            </a:r>
          </a:p>
        </p:txBody>
      </p:sp>
      <p:sp>
        <p:nvSpPr>
          <p:cNvPr id="17" name="Rectangle 17"/>
          <p:cNvSpPr/>
          <p:nvPr/>
        </p:nvSpPr>
        <p:spPr>
          <a:xfrm>
            <a:off x="2667000" y="3619500"/>
            <a:ext cx="5143500" cy="323850"/>
          </a:xfrm>
          <a:prstGeom prst="roundRect">
            <a:avLst>
              <a:gd name="adj" fmla="val 23529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2667000" y="3619500"/>
            <a:ext cx="495300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981950" y="3686175"/>
            <a:ext cx="394858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评估口径：一次性投入与持续性投入分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81950" y="393382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开测算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9640" y="4549140"/>
            <a:ext cx="71608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指标4</a:t>
            </a:r>
          </a:p>
        </p:txBody>
      </p:sp>
      <p:sp>
        <p:nvSpPr>
          <p:cNvPr id="22" name="Rectangle 22"/>
          <p:cNvSpPr/>
          <p:nvPr/>
        </p:nvSpPr>
        <p:spPr>
          <a:xfrm>
            <a:off x="2667000" y="4476750"/>
            <a:ext cx="5143500" cy="323850"/>
          </a:xfrm>
          <a:prstGeom prst="roundRect">
            <a:avLst>
              <a:gd name="adj" fmla="val 23529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2667000" y="4476750"/>
            <a:ext cx="4953000" cy="323850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981950" y="4543425"/>
            <a:ext cx="408660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建议采用ROI、回收周期、净收益三项指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81950" y="4791075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标综合判断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15340" y="405765"/>
            <a:ext cx="10508723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ROI测算逻辑：优先选择高价值、低复杂度场景</a:t>
            </a:r>
          </a:p>
        </p:txBody>
      </p:sp>
      <p:sp>
        <p:nvSpPr>
          <p:cNvPr id="4" name="Rectangle 4"/>
          <p:cNvSpPr/>
          <p:nvPr/>
        </p:nvSpPr>
        <p:spPr>
          <a:xfrm>
            <a:off x="666750" y="1238250"/>
            <a:ext cx="10858500" cy="5048250"/>
          </a:xfrm>
          <a:prstGeom prst="roundRect">
            <a:avLst>
              <a:gd name="adj" fmla="val 3774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952500" y="1809750"/>
            <a:ext cx="30480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158240" y="2072640"/>
            <a:ext cx="65036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指标1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37285" y="2561272"/>
            <a:ext cx="3262027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1D4ED8"/>
                </a:solidFill>
                <a:latin typeface="Arial"/>
                <a:ea typeface="Microsoft YaHei"/>
                <a:cs typeface="Arial"/>
              </a:rPr>
              <a:t>场景筛选维度</a:t>
            </a:r>
          </a:p>
        </p:txBody>
      </p:sp>
      <p:sp>
        <p:nvSpPr>
          <p:cNvPr id="8" name="Rectangle 8"/>
          <p:cNvSpPr/>
          <p:nvPr/>
        </p:nvSpPr>
        <p:spPr>
          <a:xfrm>
            <a:off x="4381500" y="1809750"/>
            <a:ext cx="30480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4587240" y="2072640"/>
            <a:ext cx="71608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指标2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66285" y="2561272"/>
            <a:ext cx="3262027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1D4ED8"/>
                </a:solidFill>
                <a:latin typeface="Arial"/>
                <a:ea typeface="Microsoft YaHei"/>
                <a:cs typeface="Arial"/>
              </a:rPr>
              <a:t>短期优先：客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810500" y="1809750"/>
            <a:ext cx="30480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8016240" y="2072640"/>
            <a:ext cx="71608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指标3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95285" y="2561272"/>
            <a:ext cx="3262027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1D4ED8"/>
                </a:solidFill>
                <a:latin typeface="Arial"/>
                <a:ea typeface="Microsoft YaHei"/>
                <a:cs typeface="Arial"/>
              </a:rPr>
              <a:t>中期拓展：销</a:t>
            </a:r>
          </a:p>
        </p:txBody>
      </p:sp>
      <p:sp>
        <p:nvSpPr>
          <p:cNvPr id="14" name="Rectangle 14"/>
          <p:cNvSpPr/>
          <p:nvPr/>
        </p:nvSpPr>
        <p:spPr>
          <a:xfrm>
            <a:off x="952500" y="3810000"/>
            <a:ext cx="30480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1158240" y="4072890"/>
            <a:ext cx="71608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指标4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7285" y="4561522"/>
            <a:ext cx="3262027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1D4ED8"/>
                </a:solidFill>
                <a:latin typeface="Arial"/>
                <a:ea typeface="Microsoft YaHei"/>
                <a:cs typeface="Arial"/>
              </a:rPr>
              <a:t>通过试点验证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8185" y="503872"/>
            <a:ext cx="8023622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试点策略：小步快跑，验证后复制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143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CBD5E1"/>
            </a:solidFill>
          </a:ln>
        </p:spPr>
      </p:sp>
      <p:sp>
        <p:nvSpPr>
          <p:cNvPr id="5" name="Ellipse 5"/>
          <p:cNvSpPr/>
          <p:nvPr/>
        </p:nvSpPr>
        <p:spPr>
          <a:xfrm>
            <a:off x="1104900" y="1390650"/>
            <a:ext cx="457200" cy="4572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236345" y="1517332"/>
            <a:ext cx="11781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7" name="Line 7"/>
          <p:cNvSpPr/>
          <p:nvPr/>
        </p:nvSpPr>
        <p:spPr>
          <a:xfrm>
            <a:off x="1333500" y="1847850"/>
            <a:ext cx="9525" cy="514350"/>
          </a:xfrm>
          <a:custGeom>
            <a:avLst/>
            <a:gdLst/>
            <a:ahLst/>
            <a:cxnLst/>
            <a:rect l="l" t="t" r="r" b="b"/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/>
          <a:ln w="28575">
            <a:solidFill>
              <a:srgbClr val="93C5FD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1809750" y="1276350"/>
            <a:ext cx="93345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2070735" y="1484948"/>
            <a:ext cx="659987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试点目标明确：聚焦单一部门、单一流程、单一指标</a:t>
            </a:r>
          </a:p>
        </p:txBody>
      </p:sp>
      <p:sp>
        <p:nvSpPr>
          <p:cNvPr id="10" name="Ellipse 10"/>
          <p:cNvSpPr/>
          <p:nvPr/>
        </p:nvSpPr>
        <p:spPr>
          <a:xfrm>
            <a:off x="1104900" y="2362200"/>
            <a:ext cx="457200" cy="4572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36345" y="2488882"/>
            <a:ext cx="18107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2" name="Line 12"/>
          <p:cNvSpPr/>
          <p:nvPr/>
        </p:nvSpPr>
        <p:spPr>
          <a:xfrm>
            <a:off x="1333500" y="2819400"/>
            <a:ext cx="9525" cy="514350"/>
          </a:xfrm>
          <a:custGeom>
            <a:avLst/>
            <a:gdLst/>
            <a:ahLst/>
            <a:cxnLst/>
            <a:rect l="l" t="t" r="r" b="b"/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/>
          <a:ln w="28575">
            <a:solidFill>
              <a:srgbClr val="93C5FD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1809750" y="2247900"/>
            <a:ext cx="93345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2070735" y="2456498"/>
            <a:ext cx="671379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试点周期建议控制在6至12周，确保快速形成结果闭环</a:t>
            </a:r>
          </a:p>
        </p:txBody>
      </p:sp>
      <p:sp>
        <p:nvSpPr>
          <p:cNvPr id="15" name="Ellipse 15"/>
          <p:cNvSpPr/>
          <p:nvPr/>
        </p:nvSpPr>
        <p:spPr>
          <a:xfrm>
            <a:off x="1104900" y="3333750"/>
            <a:ext cx="457200" cy="4572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236345" y="3460432"/>
            <a:ext cx="18107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17" name="Line 17"/>
          <p:cNvSpPr/>
          <p:nvPr/>
        </p:nvSpPr>
        <p:spPr>
          <a:xfrm>
            <a:off x="1333500" y="3790950"/>
            <a:ext cx="9525" cy="514350"/>
          </a:xfrm>
          <a:custGeom>
            <a:avLst/>
            <a:gdLst/>
            <a:ahLst/>
            <a:cxnLst/>
            <a:rect l="l" t="t" r="r" b="b"/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/>
          <a:ln w="28575">
            <a:solidFill>
              <a:srgbClr val="93C5FD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1809750" y="3219450"/>
            <a:ext cx="93345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070735" y="3428048"/>
            <a:ext cx="627235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设置对照组与基线数据，客观评估AI介入前后差异</a:t>
            </a:r>
          </a:p>
        </p:txBody>
      </p:sp>
      <p:sp>
        <p:nvSpPr>
          <p:cNvPr id="20" name="Ellipse 20"/>
          <p:cNvSpPr/>
          <p:nvPr/>
        </p:nvSpPr>
        <p:spPr>
          <a:xfrm>
            <a:off x="1104900" y="4305300"/>
            <a:ext cx="457200" cy="4572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236345" y="4431982"/>
            <a:ext cx="18107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22" name="Line 22"/>
          <p:cNvSpPr/>
          <p:nvPr/>
        </p:nvSpPr>
        <p:spPr>
          <a:xfrm>
            <a:off x="1333500" y="4762500"/>
            <a:ext cx="9525" cy="514350"/>
          </a:xfrm>
          <a:custGeom>
            <a:avLst/>
            <a:gdLst/>
            <a:ahLst/>
            <a:cxnLst/>
            <a:rect l="l" t="t" r="r" b="b"/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/>
          <a:ln w="28575">
            <a:solidFill>
              <a:srgbClr val="93C5FD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1809750" y="4191000"/>
            <a:ext cx="93345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2070735" y="4399598"/>
            <a:ext cx="773906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试点成功标准包括效率提升、用户采纳、风险可控与可复制性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8185" y="503872"/>
            <a:ext cx="10139886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组织能力建设：技术、业务、治理三位一体</a:t>
            </a:r>
          </a:p>
        </p:txBody>
      </p:sp>
      <p:sp>
        <p:nvSpPr>
          <p:cNvPr id="4" name="Rectangle 4"/>
          <p:cNvSpPr/>
          <p:nvPr/>
        </p:nvSpPr>
        <p:spPr>
          <a:xfrm>
            <a:off x="857250" y="1619250"/>
            <a:ext cx="4762500" cy="4476750"/>
          </a:xfrm>
          <a:prstGeom prst="roundRect">
            <a:avLst>
              <a:gd name="adj" fmla="val 38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6572250" y="1619250"/>
            <a:ext cx="4762500" cy="4476750"/>
          </a:xfrm>
          <a:prstGeom prst="roundRect">
            <a:avLst>
              <a:gd name="adj" fmla="val 383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207770" y="1836420"/>
            <a:ext cx="79705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现状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27520" y="1836420"/>
            <a:ext cx="79705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D4ED8"/>
                </a:solidFill>
                <a:latin typeface="Arial"/>
                <a:ea typeface="Microsoft YaHei"/>
                <a:cs typeface="Arial"/>
              </a:rPr>
              <a:t>目标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5390" y="2139315"/>
            <a:ext cx="47383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• 技术能力：模型选型、平台集成、数据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5390" y="2425065"/>
            <a:ext cx="24117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接口与安全能力建设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5390" y="2996565"/>
            <a:ext cx="47383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• 业务能力：场景识别、流程重构、需求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5390" y="3282315"/>
            <a:ext cx="188595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管理与价值追踪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5390" y="3853815"/>
            <a:ext cx="47383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• 治理能力：权限管理、内容审核、合规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5390" y="4139565"/>
            <a:ext cx="188595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审查与风险预案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35140" y="2139315"/>
            <a:ext cx="469887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• 建立跨部门协同机制，明确业务、IT与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35140" y="2425065"/>
            <a:ext cx="188595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管理层职责分工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11530" y="563880"/>
            <a:ext cx="561213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实施建议与下一步行动</a:t>
            </a:r>
          </a:p>
        </p:txBody>
      </p:sp>
      <p:sp>
        <p:nvSpPr>
          <p:cNvPr id="4" name="Rectangle 4"/>
          <p:cNvSpPr/>
          <p:nvPr/>
        </p:nvSpPr>
        <p:spPr>
          <a:xfrm>
            <a:off x="857250" y="1428750"/>
            <a:ext cx="10477500" cy="2095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203960" y="1994535"/>
            <a:ext cx="917771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“第一步：梳理候选场景，建立价值与难度评估清单”</a:t>
            </a:r>
          </a:p>
        </p:txBody>
      </p:sp>
      <p:sp>
        <p:nvSpPr>
          <p:cNvPr id="6" name="Ellipse 6"/>
          <p:cNvSpPr/>
          <p:nvPr/>
        </p:nvSpPr>
        <p:spPr>
          <a:xfrm>
            <a:off x="1543050" y="3790950"/>
            <a:ext cx="152400" cy="152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830705" y="3716655"/>
            <a:ext cx="644813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第二步：选择1至2个高优先级场景开展试点验证</a:t>
            </a:r>
          </a:p>
        </p:txBody>
      </p:sp>
      <p:sp>
        <p:nvSpPr>
          <p:cNvPr id="8" name="Ellipse 8"/>
          <p:cNvSpPr/>
          <p:nvPr/>
        </p:nvSpPr>
        <p:spPr>
          <a:xfrm>
            <a:off x="1543050" y="4457700"/>
            <a:ext cx="152400" cy="152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830705" y="4383405"/>
            <a:ext cx="772096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第三步：同步搭建治理机制与培训体系，提升组织采纳率</a:t>
            </a:r>
          </a:p>
        </p:txBody>
      </p:sp>
      <p:sp>
        <p:nvSpPr>
          <p:cNvPr id="10" name="Ellipse 10"/>
          <p:cNvSpPr/>
          <p:nvPr/>
        </p:nvSpPr>
        <p:spPr>
          <a:xfrm>
            <a:off x="1543050" y="5124450"/>
            <a:ext cx="152400" cy="152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830705" y="5050155"/>
            <a:ext cx="741426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E293B"/>
                </a:solidFill>
                <a:latin typeface="Arial"/>
                <a:ea typeface="Microsoft YaHei"/>
                <a:cs typeface="Arial"/>
              </a:rPr>
              <a:t>第四步：形成标准化方法论，逐步复制到更多业务单元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