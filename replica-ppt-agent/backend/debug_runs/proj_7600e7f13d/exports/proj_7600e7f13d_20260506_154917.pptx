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66750" y="1047750"/>
            <a:ext cx="108585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9525000" y="666750"/>
            <a:ext cx="2095500" cy="2095500"/>
          </a:xfrm>
          <a:prstGeom prst="ellipse">
            <a:avLst/>
          </a:prstGeom>
          <a:solidFill>
            <a:srgbClr val="DBEAFE">
              <a:alpha val="7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001000" y="4000500"/>
            <a:ext cx="2667000" cy="2667000"/>
          </a:xfrm>
          <a:prstGeom prst="ellipse">
            <a:avLst/>
          </a:prstGeom>
          <a:solidFill>
            <a:srgbClr val="BFDBFE">
              <a:alpha val="5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3005" y="1911668"/>
            <a:ext cx="10683761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AI提效：从试点验证到规模化价值释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3005" y="2597468"/>
            <a:ext cx="777573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1580" y="3202305"/>
            <a:ext cx="102666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聚焦投入产出评估、试点策略与组织能力建设 适用于管理层汇报、项目立项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3564255"/>
            <a:ext cx="15868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与内部宣导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5934075"/>
            <a:ext cx="34556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Replica PPT Agent · AI Generated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15340" y="2343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1333500" y="18097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Ellipse 6"/>
          <p:cNvSpPr/>
          <p:nvPr/>
        </p:nvSpPr>
        <p:spPr>
          <a:xfrm>
            <a:off x="1543050" y="19145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630680" y="20069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8830" y="1945005"/>
            <a:ext cx="39944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AI提效的业务背景与核心价值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255270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543050" y="265747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30680" y="27498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830" y="2687955"/>
            <a:ext cx="40405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投入产出评估框架与测算方法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333500" y="32956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543050" y="34004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630680" y="3492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68830" y="343090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试点策略设计与落地路径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333500" y="403860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1543050" y="414337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630680" y="42357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68830" y="41738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组织能力建设与保障机制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333500" y="47815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543050" y="48863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630680" y="49787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68830" y="4916805"/>
            <a:ext cx="31203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实施建议与下一步行动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718552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AI提效的业务背景与核心价值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4890" y="201549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企业面临人效增长放缓、流程复杂度提升与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890" y="233934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成本压力加大的多重挑战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48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价值不仅体现在节省工时，更体现在响应速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890" y="376809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度、质量稳定性与客户体验提升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30390" y="2015490"/>
            <a:ext cx="50011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AI可在内容生成、知识检索、流程自动化与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30390" y="233934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辅助决策等场景实现显著提效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30390" y="3444240"/>
            <a:ext cx="464629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管理层关注重点应从“是否使用AI”转向“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0390" y="3768090"/>
            <a:ext cx="33449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如何形成可复制的经营价值”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13435" y="351472"/>
            <a:ext cx="8870128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投入产出评估：建立可量化的ROI框架</a:t>
            </a:r>
          </a:p>
        </p:txBody>
      </p:sp>
      <p:sp>
        <p:nvSpPr>
          <p:cNvPr id="5" name="Rectangle 5"/>
          <p:cNvSpPr/>
          <p:nvPr/>
        </p:nvSpPr>
        <p:spPr>
          <a:xfrm>
            <a:off x="666750" y="1428750"/>
            <a:ext cx="10858500" cy="495300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9525">
            <a:solidFill>
              <a:srgbClr val="DBEAF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29640" y="1977390"/>
            <a:ext cx="6503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指标1</a:t>
            </a:r>
          </a:p>
        </p:txBody>
      </p:sp>
      <p:sp>
        <p:nvSpPr>
          <p:cNvPr id="7" name="Rectangle 7"/>
          <p:cNvSpPr/>
          <p:nvPr/>
        </p:nvSpPr>
        <p:spPr>
          <a:xfrm>
            <a:off x="2667000" y="19050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667000" y="19050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81950" y="19716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投入项包括模型与平台费用、系统集成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0" y="22193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成本、数据治理投入、培训与变革管理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" y="28346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667000" y="27622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667000" y="27622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81950" y="28289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产出项包括人工工时节省、错误率下降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81950" y="30765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、交付周期缩短、转化率提升与客户满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9640" y="369189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指标3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667000" y="36195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2667000" y="36195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81950" y="3686175"/>
            <a:ext cx="37760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建议采用“单场景ROI+组合场景收益”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81950" y="39338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双层测算，兼顾短期回报与长期能力沉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9640" y="45491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指标4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667000" y="44767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2667000" y="44767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981950" y="45434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核心指标可设置为单位任务成本、处理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1950" y="47910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时长、一次通过率与人均产出提升比例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13435" y="351472"/>
            <a:ext cx="8552688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投入产出评估：优先选择高价值场景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666750" y="1428750"/>
            <a:ext cx="10858500" cy="495300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9525">
            <a:solidFill>
              <a:srgbClr val="DBEAF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29640" y="1977390"/>
            <a:ext cx="6503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指标1</a:t>
            </a:r>
          </a:p>
        </p:txBody>
      </p:sp>
      <p:sp>
        <p:nvSpPr>
          <p:cNvPr id="7" name="Rectangle 7"/>
          <p:cNvSpPr/>
          <p:nvPr/>
        </p:nvSpPr>
        <p:spPr>
          <a:xfrm>
            <a:off x="2667000" y="19050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667000" y="19050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81950" y="19716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优先筛选高频、标准化、数据基础较好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0" y="2219325"/>
            <a:ext cx="25684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且结果易衡量的业务流程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" y="28346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667000" y="27622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667000" y="27622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81950" y="2828925"/>
            <a:ext cx="38450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从“价值潜力、实施难度、风险水平、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81950" y="3076575"/>
            <a:ext cx="33850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复制空间”四个维度进行场景评分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9640" y="369189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指标3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667000" y="36195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2667000" y="36195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81950" y="36861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典型优先场景包括客服辅助、销售线索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81950" y="39338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处理、报告生成、知识问答与内部运营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9640" y="45491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指标4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667000" y="44767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2667000" y="44767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981950" y="45434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避免一开始投入过多复杂场景，应先通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1950" y="4791075"/>
            <a:ext cx="32585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过小切口验证价值与组织接受度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83724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试点策略：以小步快跑验证可行性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4890" y="2015490"/>
            <a:ext cx="48828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试点目标应明确聚焦1-2个关键业务问题，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890" y="23393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避免范围过大导致周期拉长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4890" y="3444240"/>
            <a:ext cx="49486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试点成功标准需提前设定，如工时节省20%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890" y="3768090"/>
            <a:ext cx="42651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、响应时效提升30%或满意度提升10%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30390" y="2015490"/>
            <a:ext cx="47120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建议采用“4-8周快速试点”模式，覆盖需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30390" y="2339340"/>
            <a:ext cx="47777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求定义、方案搭建、业务验证与复盘优化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303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试点阶段重点不是追求完美，而是验证技术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0390" y="376809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可用性、业务适配性与收益可兑现性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89245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试点策略：从单点成功走向规模复制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4890" y="201549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试点结束后应形成标准化模板，包括场景定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890" y="2339340"/>
            <a:ext cx="45148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义、数据接口、提示词规范与评估机制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48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通过分层推进策略实现扩展：个人助手型、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890" y="3768090"/>
            <a:ext cx="39890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部门协同型、流程重构型逐步升级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30390" y="2015490"/>
            <a:ext cx="45674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建立“试点—复盘—推广”闭环，将成功经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30390" y="233934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验快速复制到相似部门与流程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303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规模化阶段需同步关注安全合规、权限管理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0390" y="3768090"/>
            <a:ext cx="39890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与系统稳定性，避免价值释放受阻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89245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组织能力建设：打造持续提效的底座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4890" y="2015490"/>
            <a:ext cx="50011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组织层面需明确牵头机制，通常由业务、IT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890" y="2339340"/>
            <a:ext cx="45148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、数据与人力共同组成跨部门推进团队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48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通过分层培训提升员工使用能力，让管理者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890" y="3768090"/>
            <a:ext cx="39890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会决策、骨干会设计、一线会应用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30390" y="201549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能力建设重点包括数据治理、场景设计、提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30390" y="233934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示词应用、模型管理与效果评估能力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303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建立制度与流程保障，包括使用规范、风险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0390" y="376809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审查、绩效激励与案例沉淀机制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1530" y="563880"/>
            <a:ext cx="773759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实施建议：三步推进AI提效落地</a:t>
            </a:r>
          </a:p>
        </p:txBody>
      </p:sp>
      <p:sp>
        <p:nvSpPr>
          <p:cNvPr id="4" name="Rectangle 4"/>
          <p:cNvSpPr/>
          <p:nvPr/>
        </p:nvSpPr>
        <p:spPr>
          <a:xfrm>
            <a:off x="857250" y="1428750"/>
            <a:ext cx="10477500" cy="209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203960" y="1994535"/>
            <a:ext cx="1116911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“第一步，识别高价值场景并建立统一ROI评估口径，确保项目选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3960" y="2451735"/>
            <a:ext cx="186280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择有依据”</a:t>
            </a:r>
          </a:p>
        </p:txBody>
      </p:sp>
      <p:sp>
        <p:nvSpPr>
          <p:cNvPr id="7" name="Ellipse 7"/>
          <p:cNvSpPr/>
          <p:nvPr/>
        </p:nvSpPr>
        <p:spPr>
          <a:xfrm>
            <a:off x="1543050" y="379095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30705" y="3716655"/>
            <a:ext cx="86410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第二步，以短周期试点验证业务价值，形成可复制的方法与标准</a:t>
            </a:r>
          </a:p>
        </p:txBody>
      </p:sp>
      <p:sp>
        <p:nvSpPr>
          <p:cNvPr id="9" name="Ellipse 9"/>
          <p:cNvSpPr/>
          <p:nvPr/>
        </p:nvSpPr>
        <p:spPr>
          <a:xfrm>
            <a:off x="1543050" y="445770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30705" y="4383405"/>
            <a:ext cx="101746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第三步，围绕组织、数据、流程与治理体系建设长期能力，实现规模化提效</a:t>
            </a:r>
          </a:p>
        </p:txBody>
      </p:sp>
      <p:sp>
        <p:nvSpPr>
          <p:cNvPr id="11" name="Ellipse 11"/>
          <p:cNvSpPr/>
          <p:nvPr/>
        </p:nvSpPr>
        <p:spPr>
          <a:xfrm>
            <a:off x="1543050" y="512445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30705" y="5050155"/>
            <a:ext cx="976055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建议管理层以“价值导向+分阶段投入”方式推进，降低风险并提升成功率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3429000" cy="3429000"/>
          </a:xfrm>
          <a:prstGeom prst="ellipse">
            <a:avLst/>
          </a:prstGeom>
          <a:solidFill>
            <a:srgbClr val="334155">
              <a:alpha val="3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810500" y="3429000"/>
            <a:ext cx="4953000" cy="4953000"/>
          </a:xfrm>
          <a:prstGeom prst="ellipse">
            <a:avLst/>
          </a:prstGeom>
          <a:solidFill>
            <a:srgbClr val="1E40AF">
              <a:alpha val="2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68730" y="2306955"/>
            <a:ext cx="10961594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结束页：以可衡量价值驱动AI提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8730" y="3068955"/>
            <a:ext cx="911638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4925" y="366236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