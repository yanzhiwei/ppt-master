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666750" y="1047750"/>
            <a:ext cx="10858500" cy="47625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DBEAFE"/>
            </a:solidFill>
          </a:ln>
        </p:spPr>
      </p:sp>
      <p:sp>
        <p:nvSpPr>
          <p:cNvPr id="6" name="Ellipse 6"/>
          <p:cNvSpPr/>
          <p:nvPr/>
        </p:nvSpPr>
        <p:spPr>
          <a:xfrm>
            <a:off x="9525000" y="666750"/>
            <a:ext cx="2095500" cy="2095500"/>
          </a:xfrm>
          <a:prstGeom prst="ellipse">
            <a:avLst/>
          </a:prstGeom>
          <a:solidFill>
            <a:srgbClr val="DBEAFE">
              <a:alpha val="7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8001000" y="4000500"/>
            <a:ext cx="2667000" cy="2667000"/>
          </a:xfrm>
          <a:prstGeom prst="ellipse">
            <a:avLst/>
          </a:prstGeom>
          <a:solidFill>
            <a:srgbClr val="BFDBFE">
              <a:alpha val="55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81100" y="2181225"/>
            <a:ext cx="11742253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AI提效：驱动企业效率升级与业务增长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9675" y="3090862"/>
            <a:ext cx="1160787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聚焦企业场景下的AI应用价值与落地路径 面向管理层与业务团队的商务汇报框架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9200" y="5934075"/>
            <a:ext cx="34556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Replica PPT Agent · AI Generated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15340" y="234315"/>
            <a:ext cx="109594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5" name="Rectangle 5"/>
          <p:cNvSpPr/>
          <p:nvPr/>
        </p:nvSpPr>
        <p:spPr>
          <a:xfrm>
            <a:off x="1333500" y="1809750"/>
            <a:ext cx="95250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Ellipse 6"/>
          <p:cNvSpPr/>
          <p:nvPr/>
        </p:nvSpPr>
        <p:spPr>
          <a:xfrm>
            <a:off x="1543050" y="1914525"/>
            <a:ext cx="342900" cy="3429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630680" y="200691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68830" y="1945005"/>
            <a:ext cx="338108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AI提效的背景与核心价值</a:t>
            </a:r>
          </a:p>
        </p:txBody>
      </p:sp>
      <p:sp>
        <p:nvSpPr>
          <p:cNvPr id="9" name="Rectangle 9"/>
          <p:cNvSpPr/>
          <p:nvPr/>
        </p:nvSpPr>
        <p:spPr>
          <a:xfrm>
            <a:off x="1333500" y="2552700"/>
            <a:ext cx="95250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1543050" y="2657475"/>
            <a:ext cx="342900" cy="3429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630680" y="274986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68830" y="2687955"/>
            <a:ext cx="34270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典型业务场景与应用方式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333500" y="3295650"/>
            <a:ext cx="95250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1543050" y="3400425"/>
            <a:ext cx="342900" cy="3429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630680" y="34928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68830" y="3430905"/>
            <a:ext cx="434721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实施路径、风险控制与保障机制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333500" y="4038600"/>
            <a:ext cx="95250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1543050" y="4143375"/>
            <a:ext cx="342900" cy="3429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630680" y="423576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68830" y="4173855"/>
            <a:ext cx="34270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投入产出评估与行动建议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6280" y="468630"/>
            <a:ext cx="773759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为什么企业现在必须关注AI提效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239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21080" y="2135505"/>
            <a:ext cx="86410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市场竞争加剧，企业对效率、响应速度与成本控制要求持续提升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21080" y="3564255"/>
            <a:ext cx="614143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AI正从辅助工具升级为组织级生产力基础设施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6675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6675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926580" y="2135505"/>
            <a:ext cx="644813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生成式AI与自动化技术成熟，应用门槛显著降低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6675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6675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926580" y="3564255"/>
            <a:ext cx="649414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率先布局的企业更易形成流程、数据与人才优势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6280" y="468630"/>
            <a:ext cx="55293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AI提效的核心价值框架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239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21080" y="2135505"/>
            <a:ext cx="7107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效率提升：缩短信息处理、内容生成与任务执行时间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21080" y="3564255"/>
            <a:ext cx="557403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成本改善：降低人工投入与沟通协同成本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6675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6675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926580" y="2135505"/>
            <a:ext cx="802767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质量优化：减少重复性错误，提升输出一致性与标准化水平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6675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6675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926580" y="3564255"/>
            <a:ext cx="68008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决策增强：基于数据分析与智能洞察提升判断速度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6280" y="468630"/>
            <a:ext cx="782040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典型应用场景：办公与管理提效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239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21080" y="2135505"/>
            <a:ext cx="77209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智能会议纪要、任务拆解与待办跟踪，减少会后整理时间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21080" y="3564255"/>
            <a:ext cx="649414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企业知识库问答与制度检索，缩短信息查找路径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6675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6675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926580" y="2135505"/>
            <a:ext cx="77209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文档撰写、报告摘要与方案初稿生成，提升知识工作效率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6675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6675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926580" y="3564255"/>
            <a:ext cx="618744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跨部门协同中实现标准化沟通与流程自动提醒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6280" y="468630"/>
            <a:ext cx="892454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典型应用场景：业务与客户服务提效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239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21080" y="2135505"/>
            <a:ext cx="68008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营销内容生成与活动策划辅助，加快市场响应速度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21080" y="3564255"/>
            <a:ext cx="7107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客服机器人与智能工单分流，提升服务响应与满意度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6675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6675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926580" y="2135505"/>
            <a:ext cx="77209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销售线索分析、客户画像总结与话术建议，提升转化效率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6675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6675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926580" y="3564255"/>
            <a:ext cx="68008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运营数据监测与异常预警，支持快速调整业务策略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13435" y="351472"/>
            <a:ext cx="6357064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AI提效的投入产出评估思路</a:t>
            </a:r>
          </a:p>
        </p:txBody>
      </p:sp>
      <p:sp>
        <p:nvSpPr>
          <p:cNvPr id="5" name="Rectangle 5"/>
          <p:cNvSpPr/>
          <p:nvPr/>
        </p:nvSpPr>
        <p:spPr>
          <a:xfrm>
            <a:off x="666750" y="1428750"/>
            <a:ext cx="10858500" cy="4953000"/>
          </a:xfrm>
          <a:prstGeom prst="roundRect">
            <a:avLst>
              <a:gd name="adj" fmla="val 3462"/>
            </a:avLst>
          </a:prstGeom>
          <a:solidFill>
            <a:srgbClr val="F8FAFC"/>
          </a:solidFill>
          <a:ln w="9525">
            <a:solidFill>
              <a:srgbClr val="DBEAF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29640" y="1977390"/>
            <a:ext cx="65036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指标1</a:t>
            </a:r>
          </a:p>
        </p:txBody>
      </p:sp>
      <p:sp>
        <p:nvSpPr>
          <p:cNvPr id="7" name="Rectangle 7"/>
          <p:cNvSpPr/>
          <p:nvPr/>
        </p:nvSpPr>
        <p:spPr>
          <a:xfrm>
            <a:off x="2667000" y="1905000"/>
            <a:ext cx="5143500" cy="323850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2667000" y="1905000"/>
            <a:ext cx="495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978140" y="1958340"/>
            <a:ext cx="694658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投入维度：工具采购、系统集成、数据治理、培训与运维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9640" y="2834640"/>
            <a:ext cx="7160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667000" y="2762250"/>
            <a:ext cx="5143500" cy="323850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2667000" y="2762250"/>
            <a:ext cx="495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978140" y="2815590"/>
            <a:ext cx="749865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产出维度：人效提升、流程缩短、错误率下降、客户响应加快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9640" y="3691890"/>
            <a:ext cx="7160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指标3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667000" y="3619500"/>
            <a:ext cx="5143500" cy="323850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2667000" y="3619500"/>
            <a:ext cx="495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978140" y="3672840"/>
            <a:ext cx="611847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建议优先选择高频、标准化、可量化场景进行试点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9640" y="4549140"/>
            <a:ext cx="7160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指标4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667000" y="4476750"/>
            <a:ext cx="5143500" cy="323850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2667000" y="4476750"/>
            <a:ext cx="495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978140" y="4530090"/>
            <a:ext cx="573203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通过试点数据验证ROI，再逐步复制到更多部门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6280" y="468630"/>
            <a:ext cx="387311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AI落地实施路径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239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21080" y="2135505"/>
            <a:ext cx="74142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第一阶段：识别高价值场景，明确业务目标与评价指标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21080" y="3564255"/>
            <a:ext cx="77209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第三阶段：开展试点运行，持续优化提示词、规则与流程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6675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6675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926580" y="2135505"/>
            <a:ext cx="7107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第二阶段：完成工具选型、流程设计与数据接口打通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6675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6675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926580" y="3564255"/>
            <a:ext cx="77209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第四阶段：形成标准化机制，推动规模化复制与组织推广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1530" y="563880"/>
            <a:ext cx="616419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风险控制与关键成功要素</a:t>
            </a:r>
          </a:p>
        </p:txBody>
      </p:sp>
      <p:sp>
        <p:nvSpPr>
          <p:cNvPr id="4" name="Rectangle 4"/>
          <p:cNvSpPr/>
          <p:nvPr/>
        </p:nvSpPr>
        <p:spPr>
          <a:xfrm>
            <a:off x="857250" y="1428750"/>
            <a:ext cx="10477500" cy="2095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202055" y="2168842"/>
            <a:ext cx="1093631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“建立数据安全、权限管理与内容审核机制，确保合规应用”</a:t>
            </a:r>
          </a:p>
        </p:txBody>
      </p:sp>
      <p:sp>
        <p:nvSpPr>
          <p:cNvPr id="6" name="Ellipse 6"/>
          <p:cNvSpPr/>
          <p:nvPr/>
        </p:nvSpPr>
        <p:spPr>
          <a:xfrm>
            <a:off x="1543050" y="3790950"/>
            <a:ext cx="152400" cy="152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830705" y="3716655"/>
            <a:ext cx="77209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明确人机协同边界，关键决策与高风险输出保留人工复核</a:t>
            </a:r>
          </a:p>
        </p:txBody>
      </p:sp>
      <p:sp>
        <p:nvSpPr>
          <p:cNvPr id="8" name="Ellipse 8"/>
          <p:cNvSpPr/>
          <p:nvPr/>
        </p:nvSpPr>
        <p:spPr>
          <a:xfrm>
            <a:off x="1543050" y="4457700"/>
            <a:ext cx="152400" cy="152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830705" y="4383405"/>
            <a:ext cx="649414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通过培训与制度建设提升员工使用能力与接受度</a:t>
            </a:r>
          </a:p>
        </p:txBody>
      </p:sp>
      <p:sp>
        <p:nvSpPr>
          <p:cNvPr id="10" name="Ellipse 10"/>
          <p:cNvSpPr/>
          <p:nvPr/>
        </p:nvSpPr>
        <p:spPr>
          <a:xfrm>
            <a:off x="1543050" y="5124450"/>
            <a:ext cx="152400" cy="152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830705" y="5050155"/>
            <a:ext cx="859507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由管理层牵引、业务部门主导、IT团队支撑，形成协同推进机制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-381000"/>
            <a:ext cx="3429000" cy="3429000"/>
          </a:xfrm>
          <a:prstGeom prst="ellipse">
            <a:avLst/>
          </a:prstGeom>
          <a:solidFill>
            <a:srgbClr val="334155">
              <a:alpha val="35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810500" y="3429000"/>
            <a:ext cx="4953000" cy="4953000"/>
          </a:xfrm>
          <a:prstGeom prst="ellipse">
            <a:avLst/>
          </a:prstGeom>
          <a:solidFill>
            <a:srgbClr val="1E40AF">
              <a:alpha val="25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264920" y="2465070"/>
            <a:ext cx="5933884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结论与行动建议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4925" y="347186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